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APPLE SEARCH ADS · TEST TASK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TouchRetouch — bring ASA in-house, fix it, scale to $70K/mo @ ≥125% ROAS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Photo editor (iOS) · freemium weekly trial → subscription · US market · 2-quarter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937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6B7280"/>
                </a:solidFill>
                <a:latin typeface="Calibri"/>
              </a:rPr>
              <a:t>Audit → restructure → measurement fix → CPP/ASO → scale. Base plan clears 125% on CPT efficiency alone; funnel gains are upside.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1 · ACCOUNT AUDIT</a:t>
            </a:r>
          </a:p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Key problems, ranked by revenue impact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63040"/>
          <a:ext cx="11430000" cy="4992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3291840"/>
                <a:gridCol w="4206240"/>
                <a:gridCol w="3566160"/>
              </a:tblGrid>
              <a:tr h="71323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3500" marR="50800" marT="25400" marB="25400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Problem</a:t>
                      </a:r>
                    </a:p>
                  </a:txBody>
                  <a:tcPr marL="63500" marR="50800" marT="25400" marB="25400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 it's money</a:t>
                      </a:r>
                    </a:p>
                  </a:txBody>
                  <a:tcPr marL="63500" marR="50800" marT="25400" marB="25400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Fix</a:t>
                      </a:r>
                    </a:p>
                  </a:txBody>
                  <a:tcPr marL="63500" marR="50800" marT="25400" marB="25400" anchor="ctr">
                    <a:solidFill>
                      <a:srgbClr val="2E5AA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>Brand = 58% of spend (~$20K) + cannibalisation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>Paying for installs organic would win free; max bid €25–35 vs €1.2–1.9 actual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>Cap bids ~€2–3; brand-pause incrementality test; reallocate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>Search Match (31%) inside generic, no negatives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>SM competes with own exact keywords, runs semi-blind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>Isolate SM in Discovery; Core keywords as negatives; harvest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>T1_Generic: 40 storefronts, 1 budget/bid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>US competes with UZ/KG junk geos (TTR 4–5%)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>Split by geo/tier; isolate US; pause junk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>Competitor only on Product Pages (CPA €17)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>10× inefficient; missing Search Results conquesting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>Launch keyword competitor in Search Results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>Feature campaign: single-digit installs @ €4–7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>Sub-scale, overbid on low volume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>Fold into generic ad group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>Console vs MMP installs differ 30%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>Can't trust ROAS decisions — foundation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>Reconcile (see measurement slide)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1 · RESTRUCTURE</a:t>
            </a:r>
          </a:p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Target account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743200" cy="502920"/>
          </a:xfrm>
          <a:prstGeom prst="roundRect">
            <a:avLst/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Brand (US)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536192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F2430"/>
                </a:solidFill>
                <a:latin typeface="Calibri"/>
              </a:rPr>
              <a:t>Exact · bid capped ~€2–3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Defend cheaply, stop overpay; measure incrementality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95728"/>
            <a:ext cx="2743200" cy="502920"/>
          </a:xfrm>
          <a:prstGeom prst="roundRect">
            <a:avLst/>
          </a:prstGeom>
          <a:solidFill>
            <a:srgbClr val="0E7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Generic Core (US)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37744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F2430"/>
                </a:solidFill>
                <a:latin typeface="Calibri"/>
              </a:rPr>
              <a:t>Exact · manual bids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Proven head/mid terms under CPA target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36976"/>
            <a:ext cx="2743200" cy="502920"/>
          </a:xfrm>
          <a:prstGeom prst="roundRect">
            <a:avLst/>
          </a:prstGeom>
          <a:solidFill>
            <a:srgbClr val="0E7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Generic 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218688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F2430"/>
                </a:solidFill>
                <a:latin typeface="Calibri"/>
              </a:rPr>
              <a:t>Search Match + Broad, ISOLATED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Find new terms → harvest to Core; Core as negatives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78224"/>
            <a:ext cx="2743200" cy="502920"/>
          </a:xfrm>
          <a:prstGeom prst="roundRect">
            <a:avLst/>
          </a:prstGeom>
          <a:solidFill>
            <a:srgbClr val="B5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Competitor (US)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4059936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F2430"/>
                </a:solidFill>
                <a:latin typeface="Calibri"/>
              </a:rPr>
              <a:t>Exact · Search Results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Conquesting w/ own CPP (was PP-only, CPA €17)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919472"/>
            <a:ext cx="2743200" cy="50292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901184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F2430"/>
                </a:solidFill>
                <a:latin typeface="Calibri"/>
              </a:rPr>
              <a:t>Ad group inside Generic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No separate zoo of tiny-volume terms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1F2430"/>
                </a:solidFill>
                <a:latin typeface="Calibri"/>
              </a:rPr>
              <a:t>Negatives flow: Core keywords → negatives in Discovery/Search Match · Brand terms → negatives in Generic &amp; Competitor. Placements: Search Results primary; Search/Today tab tested; Product Pages only where it earns.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2 · KEYWORD STRATEGY</a:t>
            </a:r>
          </a:p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Research + sample pool by intent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430"/>
                </a:solidFill>
                <a:latin typeface="Calibri"/>
              </a:rPr>
              <a:t>Process: product seeds + App Store autosuggest + AppTweak/ASOMobile (volume/difficulty/intent) + ASA search-term reports + competitor metadata + Discovery harvest. Re-research quarterly.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10312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01752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Brand</a:t>
                      </a:r>
                    </a:p>
                  </a:txBody>
                  <a:tcPr marL="63500" marR="50800" marT="25400" marB="25400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Generic</a:t>
                      </a:r>
                    </a:p>
                  </a:txBody>
                  <a:tcPr marL="63500" marR="50800" marT="25400" marB="25400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Competitor</a:t>
                      </a:r>
                    </a:p>
                  </a:txBody>
                  <a:tcPr marL="63500" marR="50800" marT="25400" marB="25400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L="63500" marR="50800" marT="25400" marB="25400" anchor="ctr">
                    <a:solidFill>
                      <a:srgbClr val="2E5AA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>touchretouch (exact)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>photo editor (exact)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>facetune (exact)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>magic eraser (exact)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>touchretouch app (exact)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>object remover (exact)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>snapseed (exact)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>remove people (exact)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>remove object from photo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>picsart (exact)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>background eraser (exact)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>photo retouch (exact)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>lightroom (exact)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>unwanted object remover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>unblur / photo enhancer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>youcam perfect (exact)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430"/>
                          </a:solidFill>
                          <a:latin typeface="Calibri"/>
                        </a:rPr>
                        <a:t>object eraser (exact)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3949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B5761A"/>
                </a:solidFill>
                <a:latin typeface="Calibri"/>
              </a:rPr>
              <a:t>Match logic: exact for known performers; Broad+Search Match isolated in Discovery to harvest. Competitor brands: BID in ASA, but NEVER in metadata (trademark / 2.3.7).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2 · ASO &amp; PAID–ORGANIC SYNC</a:t>
            </a:r>
          </a:p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Protect and grow organic rank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500" b="1" i="0">
                <a:solidFill>
                  <a:srgbClr val="1F2430"/>
                </a:solidFill>
                <a:latin typeface="Calibri"/>
              </a:rPr>
              <a:t>●  Metadata: top generic head → Subtitle; feature terms → Keyword field; Title = TouchRetouch + top category term.</a:t>
            </a:r>
          </a:p>
          <a:p>
            <a:pPr algn="l" lvl="1">
              <a:spcAft>
                <a:spcPts val="11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–  Competitor brands: bid in ASA only — keep them OUT of metadata (trademark).</a:t>
            </a:r>
          </a:p>
          <a:p>
            <a:pPr algn="l">
              <a:spcAft>
                <a:spcPts val="1100"/>
              </a:spcAft>
            </a:pPr>
            <a:r>
              <a:rPr sz="1500" b="1" i="0">
                <a:solidFill>
                  <a:srgbClr val="1F2430"/>
                </a:solidFill>
                <a:latin typeface="Calibri"/>
              </a:rPr>
              <a:t>●  Halo: paid install velocity lifts organic rank on the same term → free installs on top.</a:t>
            </a:r>
          </a:p>
          <a:p>
            <a:pPr algn="l" lvl="1">
              <a:spcAft>
                <a:spcPts val="11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–  Cannibalisation: bidding own brand partly pays for installs organic would win free.</a:t>
            </a:r>
          </a:p>
          <a:p>
            <a:pPr algn="l">
              <a:spcAft>
                <a:spcPts val="1100"/>
              </a:spcAft>
            </a:pPr>
            <a:r>
              <a:rPr sz="1500" b="1" i="0">
                <a:solidFill>
                  <a:srgbClr val="1F2430"/>
                </a:solidFill>
                <a:latin typeface="Calibri"/>
              </a:rPr>
              <a:t>●  Measure paid→organic: track organic rank per keyword (AppTweak) before/after paid push.</a:t>
            </a:r>
          </a:p>
          <a:p>
            <a:pPr algn="l" lvl="1">
              <a:spcAft>
                <a:spcPts val="11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–  Incrementality: brand-pause test + geo-holdout to isolate true incremental paid.</a:t>
            </a:r>
          </a:p>
          <a:p>
            <a:pPr algn="l">
              <a:spcAft>
                <a:spcPts val="1100"/>
              </a:spcAft>
            </a:pPr>
            <a:r>
              <a:rPr sz="1500" b="1" i="0">
                <a:solidFill>
                  <a:srgbClr val="1F2430"/>
                </a:solidFill>
                <a:latin typeface="Calibri"/>
              </a:rPr>
              <a:t>●  Default listing IS an ASO surface: PPO A/B on screenshots/icon to lift install rate; CPP complements it per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2 · CUSTOM PRODUCT PAGES</a:t>
            </a:r>
          </a:p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3 concepts paired to keyword themes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12471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926080"/>
                <a:gridCol w="3840480"/>
                <a:gridCol w="2286000"/>
              </a:tblGrid>
              <a:tr h="8686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CPP</a:t>
                      </a:r>
                    </a:p>
                  </a:txBody>
                  <a:tcPr marL="63500" marR="50800" marT="25400" marB="25400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Serves keywords</a:t>
                      </a:r>
                    </a:p>
                  </a:txBody>
                  <a:tcPr marL="63500" marR="50800" marT="25400" marB="25400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Page changes</a:t>
                      </a:r>
                    </a:p>
                  </a:txBody>
                  <a:tcPr marL="63500" marR="50800" marT="25400" marB="25400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Uplift metric</a:t>
                      </a:r>
                    </a:p>
                  </a:txBody>
                  <a:tcPr marL="63500" marR="50800" marT="25400" marB="25400" anchor="ctr">
                    <a:solidFill>
                      <a:srgbClr val="2E5AA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Object Cleanup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remove object, magic eraser, cleanup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Before/after object-removal screens; one-tap erase preview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tap→install CR + trial-start rate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AI Enhance / Retouch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photo enhancer, ai editor, retouch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Portrait retouch/enhance leads; 'AI in one tap' msg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CR + trial rate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Competitor Switch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facetune, snapseed, picsart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'Everything they do, faster'; familiar UI cues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CR from competitor camps + trial→paid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937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6B7280"/>
                </a:solidFill>
                <a:latin typeface="Calibri"/>
              </a:rPr>
              <a:t>Judged primarily on tap→install CR (what a CPP influences) and downstream trial-start; ultimately CPA(trial)/ROAS by CPP. Each CPP paired to its ad group so creative matches search intent.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3 · BUDGET &amp; ROAS MODEL</a:t>
            </a:r>
          </a:p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Path from $35K → $70K @ ≥125%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83210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05840"/>
                <a:gridCol w="1097280"/>
                <a:gridCol w="1188720"/>
                <a:gridCol w="1280160"/>
                <a:gridCol w="914400"/>
                <a:gridCol w="822960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marL="63500" marR="50800" marT="25400" marB="25400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Spend</a:t>
                      </a:r>
                    </a:p>
                  </a:txBody>
                  <a:tcPr marL="63500" marR="50800" marT="25400" marB="25400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CPI</a:t>
                      </a:r>
                    </a:p>
                  </a:txBody>
                  <a:tcPr marL="63500" marR="50800" marT="25400" marB="25400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Installs</a:t>
                      </a:r>
                    </a:p>
                  </a:txBody>
                  <a:tcPr marL="63500" marR="50800" marT="25400" marB="25400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 marL="63500" marR="50800" marT="25400" marB="25400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ROAS</a:t>
                      </a:r>
                    </a:p>
                  </a:txBody>
                  <a:tcPr marL="63500" marR="50800" marT="25400" marB="25400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Gate</a:t>
                      </a:r>
                    </a:p>
                  </a:txBody>
                  <a:tcPr marL="63500" marR="50800" marT="25400" marB="25400" anchor="ctr">
                    <a:solidFill>
                      <a:srgbClr val="2E5AA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M0 Baseline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$35K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$0.666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52.6K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$35.0K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M1 Bank efficiency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$35K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$0.560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62.5K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$41.6K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119%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build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M2 Gate cleared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$40K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$0.531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75.3K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$50.2K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125%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M3 Scale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$55K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$0.528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104K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$69.4K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126%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Q2 Target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$70K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$0.525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133K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$88.8K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127%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961120" y="15544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E5AAC"/>
                </a:solidFill>
                <a:latin typeface="Calibri"/>
              </a:rPr>
              <a:t>Unit economics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430"/>
                </a:solidFill>
                <a:latin typeface="Calibri"/>
              </a:rPr>
              <a:t>Rev/install (Y1) = 3% × $22.2 = $0.666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430"/>
                </a:solidFill>
                <a:latin typeface="Calibri"/>
              </a:rPr>
              <a:t>Break-even CPI = $0.666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430"/>
                </a:solidFill>
                <a:latin typeface="Calibri"/>
              </a:rPr>
              <a:t>Target CPI (125%) = $0.533</a:t>
            </a:r>
          </a:p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6B7280"/>
                </a:solidFill>
                <a:latin typeface="Calibri"/>
              </a:rPr>
              <a:t>Bank efficiency FIRST (M1), then scale into the headroom. Base plan hits 125% on CPI alone — funnel gains are upside.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2430"/>
                </a:solidFill>
                <a:latin typeface="Calibri"/>
              </a:rPr>
              <a:t>Bidding: start from target CPA (CPT = CPA × CR); move on downstream (trial/payer, not installs); brand capped at actual CPT.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5761A"/>
                </a:solidFill>
                <a:latin typeface="Calibri"/>
              </a:rPr>
              <a:t>Sensitivity: ROAS chain is multiplicative → every metric has equal % elasticity. Prioritise by headroom × control: CPT efficiency (fastest), Trial→Paid (most headroom, 20%), tap→install CR (CPP/PPO).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4 · MEASUREMENT &amp; ATTRIBUTION</a:t>
            </a:r>
          </a:p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Reconcile the 30% gap; source of 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1" i="0">
                <a:solidFill>
                  <a:srgbClr val="1F2430"/>
                </a:solidFill>
                <a:latin typeface="Calibri"/>
              </a:rPr>
              <a:t>●  30% console&gt;MMP causes: AdServices counts redownloads &amp; view-through, different window; MMP dedupes, drops ATT/SKAN-null installs, needs SDK first-open.</a:t>
            </a:r>
          </a:p>
          <a:p>
            <a:pPr algn="l">
              <a:spcAft>
                <a:spcPts val="1000"/>
              </a:spcAft>
            </a:pPr>
            <a:r>
              <a:rPr sz="1350" b="1" i="0">
                <a:solidFill>
                  <a:srgbClr val="1F2430"/>
                </a:solidFill>
                <a:latin typeface="Calibri"/>
              </a:rPr>
              <a:t>●  Reconcile: agree ONE attribution window; AdServices API = source of truth for ASA installs (deterministic, survives ATT); documented console→MMP bridge, weekly.</a:t>
            </a:r>
          </a:p>
          <a:p>
            <a:pPr algn="l" lvl="1">
              <a:spcAft>
                <a:spcPts val="100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–  Source of truth — ASA console: spend, TTR, CPT, taps + AdServices installs.</a:t>
            </a:r>
          </a:p>
          <a:p>
            <a:pPr algn="l" lvl="1">
              <a:spcAft>
                <a:spcPts val="100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–  MMP (AppsFlyer): attributed installs + downstream across channels.</a:t>
            </a:r>
          </a:p>
          <a:p>
            <a:pPr algn="l" lvl="1">
              <a:spcAft>
                <a:spcPts val="100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–  RevenueCat / Amplitude: trials, payers, revenue, LTV, D30/Y1 curve.</a:t>
            </a:r>
          </a:p>
          <a:p>
            <a:pPr algn="l">
              <a:spcAft>
                <a:spcPts val="1000"/>
              </a:spcAft>
            </a:pPr>
            <a:r>
              <a:rPr sz="1350" b="1" i="0">
                <a:solidFill>
                  <a:srgbClr val="1F2430"/>
                </a:solidFill>
                <a:latin typeface="Calibri"/>
              </a:rPr>
              <a:t>●  Under ATT: AdServices deterministic for ASA installs; SKAN conversion values for downstream (non-ATT); predictive/blended for revenue.</a:t>
            </a:r>
          </a:p>
          <a:p>
            <a:pPr algn="l">
              <a:spcAft>
                <a:spcPts val="1000"/>
              </a:spcAft>
            </a:pPr>
            <a:r>
              <a:rPr sz="1350" b="1" i="0">
                <a:solidFill>
                  <a:srgbClr val="1F2430"/>
                </a:solidFill>
                <a:latin typeface="Calibri"/>
              </a:rPr>
              <a:t>●  Weekly KPIs: Spend, TTR, CR, CPT, CPI, installs (console vs MMP Δ%), CPA(trial), CPA(payer), Trial→Paid%, ROAS (D7 lead + D30 gate), organic rank of top terms, organic install share.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5 · EXPERIMENTS BACKLOG</a:t>
            </a:r>
          </a:p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Prioritised by $-unlock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12471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743200"/>
                <a:gridCol w="4389120"/>
              </a:tblGrid>
              <a:tr h="640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63500" marR="50800" marT="25400" marB="25400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Target KPI</a:t>
                      </a:r>
                    </a:p>
                  </a:txBody>
                  <a:tcPr marL="63500" marR="50800" marT="25400" marB="25400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Success / Kill</a:t>
                      </a:r>
                    </a:p>
                  </a:txBody>
                  <a:tcPr marL="63500" marR="50800" marT="25400" marB="25400" anchor="ctr">
                    <a:solidFill>
                      <a:srgbClr val="2E5AA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1 · Brand bid cap + pause incrementality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Brand incremental installs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Organic backfills ≥70% → cut permanently / Kill: organic −&gt;30%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2 · Search Match isolation + negatives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Generic CPA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CPA −15% at equal volume / Kill: volume −&gt;20%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3 · Competitor in Search Results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CPA(trial)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CPA ≤ target, incremental+ / Kill: CPA &gt; generic ×1.5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4 · CPP 'Object Cleanup' vs default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tap→install CR + trial rate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+10% CR stat-sig / Kill: no lift after N impressions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5 · PPO screenshot test (default)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Store install rate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+5% stat-sig / Kill: no lift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6 · Geo-split T1 (isolate US)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US CPI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430"/>
                          </a:solidFill>
                          <a:latin typeface="Calibri"/>
                        </a:rPr>
                        <a:t>US CPI ≤ target / Kill: —</a:t>
                      </a:r>
                    </a:p>
                  </a:txBody>
                  <a:tcPr marL="63500" marR="50800" marT="25400" marB="25400" anchor="ctr">
                    <a:solidFill>
                      <a:srgbClr val="F0F3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6 · 90-DAY CHANNEL PLAN</a:t>
            </a:r>
          </a:p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0 → 30 → 60 → 90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3749039" cy="502920"/>
          </a:xfrm>
          <a:prstGeom prst="roundRect">
            <a:avLst/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Days 0–30 · Stabilise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0312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F2430"/>
                </a:solidFill>
                <a:latin typeface="Calibri"/>
              </a:rPr>
              <a:t>•  Agency transition: access, history, search-term reports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F2430"/>
                </a:solidFill>
                <a:latin typeface="Calibri"/>
              </a:rPr>
              <a:t>•  Audit + fix measurement (AdServices/SKAN/MMP)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F2430"/>
                </a:solidFill>
                <a:latin typeface="Calibri"/>
              </a:rPr>
              <a:t>•  Quick wins: cap brand bids, isolate SM, pause junk geos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F2430"/>
                </a:solidFill>
                <a:latin typeface="Calibri"/>
              </a:rPr>
              <a:t>•  Ship 1–2 low-risk fixes; stand up reporting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63040"/>
            <a:ext cx="3749039" cy="502920"/>
          </a:xfrm>
          <a:prstGeom prst="roundRect">
            <a:avLst/>
          </a:prstGeom>
          <a:solidFill>
            <a:srgbClr val="0E7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Days 30–60 · Rebuild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10312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F2430"/>
                </a:solidFill>
                <a:latin typeface="Calibri"/>
              </a:rPr>
              <a:t>•  Live architecture: Brand/Core/Discovery/Competitor-SR/Feature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F2430"/>
                </a:solidFill>
                <a:latin typeface="Calibri"/>
              </a:rPr>
              <a:t>•  First CPP + PPO tests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F2430"/>
                </a:solidFill>
                <a:latin typeface="Calibri"/>
              </a:rPr>
              <a:t>•  Paid–organic keyword sync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F2430"/>
                </a:solidFill>
                <a:latin typeface="Calibri"/>
              </a:rPr>
              <a:t>•  Expand generic + competitor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463040"/>
            <a:ext cx="3749039" cy="502920"/>
          </a:xfrm>
          <a:prstGeom prst="roundRect">
            <a:avLst/>
          </a:prstGeom>
          <a:solidFill>
            <a:srgbClr val="B5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Days 60–90 ·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F2430"/>
                </a:solidFill>
                <a:latin typeface="Calibri"/>
              </a:rPr>
              <a:t>•  Scale into banked efficiency → ~$55K @ ≥125%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F2430"/>
                </a:solidFill>
                <a:latin typeface="Calibri"/>
              </a:rPr>
              <a:t>•  Validate CPP winners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F2430"/>
                </a:solidFill>
                <a:latin typeface="Calibri"/>
              </a:rPr>
              <a:t>•  Q2 scaling plan → $70K (budget, keywords, CPPs, geos)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035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6B7280"/>
                </a:solidFill>
                <a:latin typeface="Calibri"/>
              </a:rPr>
              <a:t>Need from team: creative for 2–3 CPPs (screens + preview) · tools (AppTweak/ASOMobile, opt. SplitMetrics) · budget authority + ROAS sign-off · CMO decisions on brand-defense risk &amp; geo expansion · product collab on paywall (Trial→Paid).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7 · RISKS &amp; ASSUMPTIONS</a:t>
            </a:r>
          </a:p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What the model depends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500" b="1" i="0">
                <a:solidFill>
                  <a:srgbClr val="1F2430"/>
                </a:solidFill>
                <a:latin typeface="Calibri"/>
              </a:rPr>
              <a:t>●  #1 assumption: revenue modelled on first-year ARPPU (same basis as the '~100%' anchor). Real cash by D30 = ROAS × D30/Y1 recognition — pull the curve from RevenueCat.</a:t>
            </a:r>
          </a:p>
          <a:p>
            <a:pPr algn="l">
              <a:spcAft>
                <a:spcPts val="1600"/>
              </a:spcAft>
            </a:pPr>
            <a:r>
              <a:rPr sz="1500" b="1" i="0">
                <a:solidFill>
                  <a:srgbClr val="1F2430"/>
                </a:solidFill>
                <a:latin typeface="Calibri"/>
              </a:rPr>
              <a:t>●  Brand incrementality: assumes organic backfills most paused brand installs. Risk: competitors bid your brand. Mitigate: capped defensive bid + monitor.</a:t>
            </a:r>
          </a:p>
          <a:p>
            <a:pPr algn="l">
              <a:spcAft>
                <a:spcPts val="1600"/>
              </a:spcAft>
            </a:pPr>
            <a:r>
              <a:rPr sz="1500" b="1" i="0">
                <a:solidFill>
                  <a:srgbClr val="1F2430"/>
                </a:solidFill>
                <a:latin typeface="Calibri"/>
              </a:rPr>
              <a:t>●  Scaling: assumes generic CPT ~stable as spend 2×. Risk: auction inflation / limited US volume → CPI rises → ROAS breaks. Mitigate: widen keywords, CPP/PPO CR gains, geo expansion for volume.</a:t>
            </a:r>
          </a:p>
          <a:p>
            <a:pPr algn="l">
              <a:spcAft>
                <a:spcPts val="1600"/>
              </a:spcAft>
            </a:pPr>
            <a:r>
              <a:rPr sz="1500" b="1" i="0">
                <a:solidFill>
                  <a:srgbClr val="1F2430"/>
                </a:solidFill>
                <a:latin typeface="Calibri"/>
              </a:rPr>
              <a:t>●  Measurement: SKAN/ATT noise &amp; delay. Mitigate: AdServices + documented reconciliation.</a:t>
            </a:r>
          </a:p>
          <a:p>
            <a:pPr algn="l">
              <a:spcAft>
                <a:spcPts val="1600"/>
              </a:spcAft>
            </a:pPr>
            <a:r>
              <a:rPr sz="1500" b="1" i="0">
                <a:solidFill>
                  <a:srgbClr val="1F2430"/>
                </a:solidFill>
                <a:latin typeface="Calibri"/>
              </a:rPr>
              <a:t>●  External: seasonality, competitor bidding, ATT opt-in rate. Monitor and re-forecast monthly.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0E7C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The thesis in one line</a:t>
            </a:r>
          </a:p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Cut brand + geo waste to bank ROAS headroom first, then scale efficient US generic &amp; competitor into it — hitting $70K @ ≥125% by end of Q2.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6B7280"/>
                </a:solidFill>
                <a:latin typeface="Calibri"/>
              </a:rPr>
              <a:t>Deliverables: this deck · ROAS model (xlsx, editable) · experiment briefs + measurement plan (doc).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