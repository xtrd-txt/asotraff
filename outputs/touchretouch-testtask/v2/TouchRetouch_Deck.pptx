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256032" cy="2834640"/>
          </a:xfrm>
          <a:prstGeom prst="rect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C8542F"/>
                </a:solidFill>
                <a:latin typeface="Calibri"/>
              </a:rPr>
              <a:t>APPLE SEARCH ADS · TEST TASK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23303B"/>
                </a:solidFill>
                <a:latin typeface="Georgia"/>
              </a:rPr>
              <a:t>TouchRetouch: taking ASA in-house,</a:t>
            </a:r>
          </a:p>
          <a:p>
            <a:pPr algn="l">
              <a:spcAft>
                <a:spcPts val="1200"/>
              </a:spcAft>
            </a:pPr>
            <a:r>
              <a:rPr sz="3000" b="1" i="0">
                <a:solidFill>
                  <a:srgbClr val="23303B"/>
                </a:solidFill>
                <a:latin typeface="Georgia"/>
              </a:rPr>
              <a:t>fixing the waste, scaling on intent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E6A63"/>
                </a:solidFill>
                <a:latin typeface="Calibri"/>
              </a:rPr>
              <a:t>Photo editor (iOS) · freemium: weekly trial → subscription · US · plan to $70K/mo at ≥125% ROAS in two quarters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6E6A63"/>
                </a:solidFill>
                <a:latin typeface="Calibri"/>
              </a:rPr>
              <a:t>My thesis: stop overpaying to defend the brand, and win the users who are searching for a tool - not for a specific app. Including the ones who'd otherwise just ask an AI.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C8542F"/>
                </a:solidFill>
                <a:latin typeface="Calibri"/>
              </a:rPr>
              <a:t>ACCOUNT AUDIT</a:t>
            </a:r>
          </a:p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23303B"/>
                </a:solidFill>
                <a:latin typeface="Georgia"/>
              </a:rPr>
              <a:t>What I see, ranked by revenue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1298448"/>
            <a:ext cx="10424160" cy="25400"/>
          </a:xfrm>
          <a:prstGeom prst="rect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63040"/>
          <a:ext cx="11475720" cy="53766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"/>
                <a:gridCol w="2834640"/>
                <a:gridCol w="4297680"/>
                <a:gridCol w="4023360"/>
              </a:tblGrid>
              <a:tr h="89611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#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Problem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My read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Fix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Brand overbid - 58% of spend, max €25-35 vs €1.2-1.9 real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Someone searching "TouchRetouch" already wants us; even if a rival ads on it, users skip the ad. This is paying to cannibalise our own brand.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Cap brand to €3-5 + small defensive bid; move the freed budget to tool intent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Search Match (31%) blind inside generic, no negatives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AUTO competes with our own exact keywords and burns budget on junk queries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Isolate Search Match; audit it; pull negative keywords that spend without converting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T1_Generic mixes 40 geos incl. UZ/KG under one bid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No subscription culture in the cheapest geos; install→paid there is almost certainly poor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Cut junk geos, keep T1, audit per-geo conversion, expand T1 pool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Competitor only on Product Pages - CPA €17, TTR 2%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Why would a user scroll a rival's page and switch? Our screens don't stand out there. It barely brings installs, so it doesn't even feed organic.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Pause → quick read → kill; move competition into Search Results / tool intent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Feature campaign timid - 'magic eraser' €4-7, single-digit installs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This IS the tool-intent play, done too small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Fold into tool-CPP campaigns and raise the bid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C8542F"/>
                </a:solidFill>
                <a:latin typeface="Calibri"/>
              </a:rPr>
              <a:t>RESTRUCTURE &amp; CORE THESIS</a:t>
            </a:r>
          </a:p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23303B"/>
                </a:solidFill>
                <a:latin typeface="Georgia"/>
              </a:rPr>
              <a:t>Defend cheap, attack intent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1298448"/>
            <a:ext cx="10424160" cy="25400"/>
          </a:xfrm>
          <a:prstGeom prst="rect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141732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3303B"/>
                </a:solidFill>
                <a:latin typeface="Calibri"/>
              </a:rPr>
              <a:t>Competitors' names ARE their keywords - like EMD domains. But a person typing "magic eraser" or "object remover" isn't after a specific app; they want the tool. Whoever shows the best solution wins the tap. So I put the money on tool intent with a dedicated page per tool - not on defending the brand.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88920"/>
            <a:ext cx="2788920" cy="457200"/>
          </a:xfrm>
          <a:prstGeom prst="roundRect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Brand (US)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761488"/>
            <a:ext cx="8275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23303B"/>
                </a:solidFill>
                <a:latin typeface="Calibri"/>
              </a:rPr>
              <a:t>Exact · bid capped €3-5 + defensive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6E6A63"/>
                </a:solidFill>
                <a:latin typeface="Calibri"/>
              </a:rPr>
              <a:t>Stop overpaying for organic we already win; measure incrementality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83864"/>
            <a:ext cx="2788920" cy="457200"/>
          </a:xfrm>
          <a:prstGeom prst="roundRect">
            <a:avLst/>
          </a:prstGeom>
          <a:solidFill>
            <a:srgbClr val="2E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Tool-intent CPPs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456432"/>
            <a:ext cx="8275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23303B"/>
                </a:solidFill>
                <a:latin typeface="Calibri"/>
              </a:rPr>
              <a:t>Exact · a CPP per tool · bid per geo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6E6A63"/>
                </a:solidFill>
                <a:latin typeface="Calibri"/>
              </a:rPr>
              <a:t>'magic eraser', 'object remover', 'background remover', 'photo retouch' - the money bucket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78808"/>
            <a:ext cx="2788920" cy="457200"/>
          </a:xfrm>
          <a:prstGeom prst="roundRect">
            <a:avLst/>
          </a:prstGeom>
          <a:solidFill>
            <a:srgbClr val="2E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Generic Core (US)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4151376"/>
            <a:ext cx="8275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23303B"/>
                </a:solidFill>
                <a:latin typeface="Calibri"/>
              </a:rPr>
              <a:t>Exact · manual bids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6E6A63"/>
                </a:solidFill>
                <a:latin typeface="Calibri"/>
              </a:rPr>
              <a:t>Head terms (photo editor, photo editing app) under CPA target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73752"/>
            <a:ext cx="2788920" cy="457200"/>
          </a:xfrm>
          <a:prstGeom prst="roundRect">
            <a:avLst/>
          </a:prstGeom>
          <a:solidFill>
            <a:srgbClr val="B5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Search Match 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46320"/>
            <a:ext cx="8275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23303B"/>
                </a:solidFill>
                <a:latin typeface="Calibri"/>
              </a:rPr>
              <a:t>AUTO, isolated + negatives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6E6A63"/>
                </a:solidFill>
                <a:latin typeface="Calibri"/>
              </a:rPr>
              <a:t>Harvest winners → Core; kill non-converting terms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68696"/>
            <a:ext cx="2788920" cy="457200"/>
          </a:xfrm>
          <a:prstGeom prst="roundRect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AI-positioning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5541264"/>
            <a:ext cx="8275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23303B"/>
                </a:solidFill>
                <a:latin typeface="Calibri"/>
              </a:rPr>
              <a:t>Exact + CPP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6E6A63"/>
                </a:solidFill>
                <a:latin typeface="Calibri"/>
              </a:rPr>
              <a:t>Win users who'd otherwise ask ChatGPT/Gemini to edit a photo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355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1">
                <a:solidFill>
                  <a:srgbClr val="6E6A63"/>
                </a:solidFill>
                <a:latin typeface="Calibri"/>
              </a:rPr>
              <a:t>Negatives: Core → negatives in Discovery/Search Match · brand → negatives in generic. Placements: Search Results first; Product-Pages competitor killed.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C8542F"/>
                </a:solidFill>
                <a:latin typeface="Calibri"/>
              </a:rPr>
              <a:t>KEYWORD STRATEGY</a:t>
            </a:r>
          </a:p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23303B"/>
                </a:solidFill>
                <a:latin typeface="Georgia"/>
              </a:rPr>
              <a:t>Research process + pool by intent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1298448"/>
            <a:ext cx="10424160" cy="25400"/>
          </a:xfrm>
          <a:prstGeom prst="rect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137160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23303B"/>
                </a:solidFill>
                <a:latin typeface="Calibri"/>
              </a:rPr>
              <a:t>My process: seed in ASO Mobile, then pull demand from Ahrefs (Google) - search intent transfers across surfaces: what people Google, they also type in the App Store. Ahrefs is for discovering intent; I size each candidate with App Store / ASA popularity before committing, because Google volume ≠ store volume.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286000"/>
          <a:ext cx="1147572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3200400"/>
                <a:gridCol w="2743200"/>
                <a:gridCol w="2788920"/>
              </a:tblGrid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Brand - defend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Generic / tool - attack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Competitor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AI intent - new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touchretouch (exact)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photo editor (exact)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facetune (exact)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ai photo editor (exact)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touchretouch app (exact)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object remover (exact)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snapseed (exact)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ai object remover (exact)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remove object from photo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picsart (exact)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ai photo cleanup (exact)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magic eraser / background remover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(brandable = low conquest)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remove object with ai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photo retouch / unblur photo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3303B"/>
                          </a:solidFill>
                          <a:latin typeface="Calibri"/>
                        </a:rPr>
                        <a:t>ai background remover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5669280"/>
            <a:ext cx="11475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C8542F"/>
                </a:solidFill>
                <a:latin typeface="Calibri"/>
              </a:rPr>
              <a:t>Match logic: exact for proven terms; Broad + Search Match isolated in Discovery to harvest. Competitor split: brandable names (Facetune/Snapseed) = weak conquest; tool-named intent = the real gold. Competitor brands are bid in ASA only - never in metadata (trademark / 2.3.7).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C8542F"/>
                </a:solidFill>
                <a:latin typeface="Calibri"/>
              </a:rPr>
              <a:t>ASO &amp; THE AI ANGLE</a:t>
            </a:r>
          </a:p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23303B"/>
                </a:solidFill>
                <a:latin typeface="Georgia"/>
              </a:rPr>
              <a:t>Protect organic, position against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1298448"/>
            <a:ext cx="10424160" cy="25400"/>
          </a:xfrm>
          <a:prstGeom prst="rect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1554480"/>
            <a:ext cx="10424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50" b="1" i="0">
                <a:solidFill>
                  <a:srgbClr val="23303B"/>
                </a:solidFill>
                <a:latin typeface="Calibri"/>
              </a:rPr>
              <a:t>-  Metadata: top tool term → Subtitle; feature/tool terms + 'ai' → Keyword field; Title = TouchRetouch + top tool term.</a:t>
            </a:r>
          </a:p>
          <a:p>
            <a:pPr algn="l">
              <a:spcAft>
                <a:spcPts val="900"/>
              </a:spcAft>
            </a:pPr>
            <a:r>
              <a:rPr sz="1350" b="1" i="0">
                <a:solidFill>
                  <a:srgbClr val="23303B"/>
                </a:solidFill>
                <a:latin typeface="Calibri"/>
              </a:rPr>
              <a:t>-  The AI angle is the differentiator: our real rival isn't another app, it's ChatGPT/Gemini. People open an LLM to fix a photo instead of finding a retoucher.</a:t>
            </a:r>
          </a:p>
          <a:p>
            <a:pPr algn="l" lvl="1">
              <a:spcAft>
                <a:spcPts val="900"/>
              </a:spcAft>
            </a:pPr>
            <a:r>
              <a:rPr sz="1150" b="0" i="0">
                <a:solidFill>
                  <a:srgbClr val="6E6A63"/>
                </a:solidFill>
                <a:latin typeface="Calibri"/>
              </a:rPr>
              <a:t>·  So we show a purpose-built product that does these exact jobs faster and cleaner than a general AI - 'AI' badges on screenshots, an AI-angle CPP, messaging vs 'just ask an AI'.</a:t>
            </a:r>
          </a:p>
          <a:p>
            <a:pPr algn="l">
              <a:spcAft>
                <a:spcPts val="900"/>
              </a:spcAft>
            </a:pPr>
            <a:r>
              <a:rPr sz="1350" b="1" i="0">
                <a:solidFill>
                  <a:srgbClr val="23303B"/>
                </a:solidFill>
                <a:latin typeface="Calibri"/>
              </a:rPr>
              <a:t>-  Halo: paid velocity on a tool term lifts its organic rank → free installs on top.</a:t>
            </a:r>
          </a:p>
          <a:p>
            <a:pPr algn="l" lvl="1">
              <a:spcAft>
                <a:spcPts val="900"/>
              </a:spcAft>
            </a:pPr>
            <a:r>
              <a:rPr sz="1150" b="0" i="0">
                <a:solidFill>
                  <a:srgbClr val="6E6A63"/>
                </a:solidFill>
                <a:latin typeface="Calibri"/>
              </a:rPr>
              <a:t>·  Cannibalisation: bidding our own brand partly pays for installs organic already wins - measured, not assumed.</a:t>
            </a:r>
          </a:p>
          <a:p>
            <a:pPr algn="l">
              <a:spcAft>
                <a:spcPts val="900"/>
              </a:spcAft>
            </a:pPr>
            <a:r>
              <a:rPr sz="1350" b="1" i="0">
                <a:solidFill>
                  <a:srgbClr val="23303B"/>
                </a:solidFill>
                <a:latin typeface="Calibri"/>
              </a:rPr>
              <a:t>-  Measure paid→organic: rank tracking per keyword (ASO Mobile) before/after push; brand-pause + geo-holdout for incrementality.</a:t>
            </a:r>
          </a:p>
          <a:p>
            <a:pPr algn="l">
              <a:spcAft>
                <a:spcPts val="900"/>
              </a:spcAft>
            </a:pPr>
            <a:r>
              <a:rPr sz="1350" b="1" i="0">
                <a:solidFill>
                  <a:srgbClr val="23303B"/>
                </a:solidFill>
                <a:latin typeface="Calibri"/>
              </a:rPr>
              <a:t>-  Default listing is an ASO surface: PPO A/B on screenshots/icon lifts install rate for all traffic; tool-CPPs complement it per intent.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C8542F"/>
                </a:solidFill>
                <a:latin typeface="Calibri"/>
              </a:rPr>
              <a:t>CUSTOM PRODUCT PAGES</a:t>
            </a:r>
          </a:p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23303B"/>
                </a:solidFill>
                <a:latin typeface="Georgia"/>
              </a:rPr>
              <a:t>A page per intent - including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1298448"/>
            <a:ext cx="10424160" cy="25400"/>
          </a:xfrm>
          <a:prstGeom prst="rect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11247120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926080"/>
                <a:gridCol w="3840480"/>
                <a:gridCol w="2286000"/>
              </a:tblGrid>
              <a:tr h="8686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CPP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Serves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Page changes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Uplift metric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Object Cleanup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remove object, magic eraser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Before/after removal; one-tap erase preview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tap→install CR + trial-start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Background / Retouch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background remover, photo retouch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Background swap + portrait retouch demos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CR + trial rate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AI, done right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ai photo editor, ai cleanup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'AI' badges; 'sharper than a general AI' message; result vs prompt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CR + trial→paid on AI cohort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292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1">
                <a:solidFill>
                  <a:srgbClr val="6E6A63"/>
                </a:solidFill>
                <a:latin typeface="Calibri"/>
              </a:rPr>
              <a:t>Each CPP is pinned to its ad group so the creative matches the exact search intent. Judged on tap→install CR (what a CPP moves) and downstream trial-start; ultimately CPA(trial)/ROAS by CPP. The AI CPP doubles as a positioning bet against LLM editing.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C8542F"/>
                </a:solidFill>
                <a:latin typeface="Calibri"/>
              </a:rPr>
              <a:t>BUDGET &amp; ROAS</a:t>
            </a:r>
          </a:p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23303B"/>
                </a:solidFill>
                <a:latin typeface="Georgia"/>
              </a:rPr>
              <a:t>Path $35K → $70K at ≥125%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1298448"/>
            <a:ext cx="10424160" cy="25400"/>
          </a:xfrm>
          <a:prstGeom prst="rect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813816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005840"/>
                <a:gridCol w="1097280"/>
                <a:gridCol w="1188720"/>
                <a:gridCol w="1188720"/>
                <a:gridCol w="914400"/>
                <a:gridCol w="73152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Phase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Spend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CPI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Installs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Revenue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ROAS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Gate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M0 Baseline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$0.666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52.6K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$35.0K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M1 Bank efficiency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$0.560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62.5K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$41.6K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119%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build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M2 Gate cleared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$0.531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75.3K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$50.2K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125%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M3 Scale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$55K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$0.528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104K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$69.4K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126%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Q2 Target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$70K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$0.525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133K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$88.8K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127%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869680" y="16002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8542F"/>
                </a:solidFill>
                <a:latin typeface="Georgia"/>
              </a:rPr>
              <a:t>Unit economics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3303B"/>
                </a:solidFill>
                <a:latin typeface="Calibri"/>
              </a:rPr>
              <a:t>Rev/install (Y1) = 3% × $22.2 = $0.666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3303B"/>
                </a:solidFill>
                <a:latin typeface="Calibri"/>
              </a:rPr>
              <a:t>Break-even CPI = $0.666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3303B"/>
                </a:solidFill>
                <a:latin typeface="Calibri"/>
              </a:rPr>
              <a:t>Target CPI (125%) = $0.533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E6A63"/>
                </a:solidFill>
                <a:latin typeface="Calibri"/>
              </a:rPr>
              <a:t>Bank efficiency first (M1) by capping brand + cutting junk geos, then scale into the headroom on tool intent.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7492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3303B"/>
                </a:solidFill>
                <a:latin typeface="Calibri"/>
              </a:rPr>
              <a:t>Bidding: keyword-level, derived from a target CPA per geo (CPT = target CPA × CR), moved on downstream trial/payer - not installs. Brand capped at real CPT.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C8542F"/>
                </a:solidFill>
                <a:latin typeface="Calibri"/>
              </a:rPr>
              <a:t>Sensitivity: the ROAS chain is multiplicative → equal % elasticity. Prioritise by headroom × control: CPT efficiency (fastest), Trial→Paid (only 20%, most headroom), tap→install CR via tool-CPPs/PPO.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C8542F"/>
                </a:solidFill>
                <a:latin typeface="Calibri"/>
              </a:rPr>
              <a:t>MEASUREMENT</a:t>
            </a:r>
          </a:p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23303B"/>
                </a:solidFill>
                <a:latin typeface="Georgia"/>
              </a:rPr>
              <a:t>Reconcile the 30% gap; source of truth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1298448"/>
            <a:ext cx="10424160" cy="25400"/>
          </a:xfrm>
          <a:prstGeom prst="rect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1554480"/>
            <a:ext cx="10424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23303B"/>
                </a:solidFill>
                <a:latin typeface="Calibri"/>
              </a:rPr>
              <a:t>-  Why console shows ~30% more than MMP: AdServices counts redownloads + view-through on its own window; AppsFlyer dedupes, drops ATT/SKAN-null installs, needs SDK first-open.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23303B"/>
                </a:solidFill>
                <a:latin typeface="Calibri"/>
              </a:rPr>
              <a:t>-  Reconcile: one attribution window; AdServices API = source of truth for ASA installs (deterministic, survives ATT); documented console→MMP bridge, tracked weekly.</a:t>
            </a:r>
          </a:p>
          <a:p>
            <a:pPr algn="l" lvl="1">
              <a:spcAft>
                <a:spcPts val="900"/>
              </a:spcAft>
            </a:pPr>
            <a:r>
              <a:rPr sz="1100" b="0" i="0">
                <a:solidFill>
                  <a:srgbClr val="6E6A63"/>
                </a:solidFill>
                <a:latin typeface="Calibri"/>
              </a:rPr>
              <a:t>·  ASA console: spend, TTR, CPT, taps + AdServices installs.</a:t>
            </a:r>
          </a:p>
          <a:p>
            <a:pPr algn="l" lvl="1">
              <a:spcAft>
                <a:spcPts val="900"/>
              </a:spcAft>
            </a:pPr>
            <a:r>
              <a:rPr sz="1100" b="0" i="0">
                <a:solidFill>
                  <a:srgbClr val="6E6A63"/>
                </a:solidFill>
                <a:latin typeface="Calibri"/>
              </a:rPr>
              <a:t>·  AppsFlyer: attributed installs + downstream across channels.</a:t>
            </a:r>
          </a:p>
          <a:p>
            <a:pPr algn="l" lvl="1">
              <a:spcAft>
                <a:spcPts val="900"/>
              </a:spcAft>
            </a:pPr>
            <a:r>
              <a:rPr sz="1100" b="0" i="0">
                <a:solidFill>
                  <a:srgbClr val="6E6A63"/>
                </a:solidFill>
                <a:latin typeface="Calibri"/>
              </a:rPr>
              <a:t>·  RevenueCat / Amplitude: trials, payers, revenue, LTV, D30/Y1 curve.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23303B"/>
                </a:solidFill>
                <a:latin typeface="Calibri"/>
              </a:rPr>
              <a:t>-  Under ATT: AdServices deterministic for ASA installs; SKAN conversion values for downstream (non-ATT); predictive for revenue where SKAN is null.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23303B"/>
                </a:solidFill>
                <a:latin typeface="Calibri"/>
              </a:rPr>
              <a:t>-  Weekly KPIs: Spend, TTR, CR, CPT, CPI, installs (console vs MMP Δ%), CPA(trial), CPA(payer), Trial→Paid%, ROAS (D7 lead + D30 gate), organic rank of top tool terms, organic install share.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C8542F"/>
                </a:solidFill>
                <a:latin typeface="Calibri"/>
              </a:rPr>
              <a:t>EXPERIMENTS BACKLOG</a:t>
            </a:r>
          </a:p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23303B"/>
                </a:solidFill>
                <a:latin typeface="Georgia"/>
              </a:rPr>
              <a:t>Prioritised by $-unlock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1298448"/>
            <a:ext cx="10424160" cy="25400"/>
          </a:xfrm>
          <a:prstGeom prst="rect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11247120" cy="43525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2743200"/>
                <a:gridCol w="4480560"/>
              </a:tblGrid>
              <a:tr h="62179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Test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Target KPI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Success / Kill</a:t>
                      </a:r>
                    </a:p>
                  </a:txBody>
                  <a:tcPr marL="76200" marR="50800" marT="25400" marB="25400" anchor="ctr">
                    <a:solidFill>
                      <a:srgbClr val="C8542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1 · Brand bid cap + pause incrementality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Brand incremental installs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Organic backfills ≥70% → cut permanently / Kill: organic drops &gt;30%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2 · Tool-intent CPP conquest (per tool)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CPA(trial), tap→install CR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CPA ≤ target + incremental / Kill: CPA &gt; target ×1.5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3 · Search Match isolation + negatives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Generic CPA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CPA -15% at equal volume / Kill: volume drops &gt;20%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4 · AI-angle CPP + 'AI' badges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CR + trial→paid on AI terms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+10% CR &amp; healthy trial→paid / Kill: no lift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5 · Kill Product-Pages competitor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Wasted spend / CPA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Confirm CPA≫target over 1 wk → kill / Keep only if ≤ target</a:t>
                      </a:r>
                    </a:p>
                  </a:txBody>
                  <a:tcPr marL="762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6 · Geo trim (drop UZ/KG, expand T1)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Blended &amp; US CPI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03B"/>
                          </a:solidFill>
                          <a:latin typeface="Calibri"/>
                        </a:rPr>
                        <a:t>US CPI ≤ target / Kill: n/a (hygiene)</a:t>
                      </a:r>
                    </a:p>
                  </a:txBody>
                  <a:tcPr marL="76200" marR="50800" marT="25400" marB="25400" anchor="ctr">
                    <a:solidFill>
                      <a:srgbClr val="F3EC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C8542F"/>
                </a:solidFill>
                <a:latin typeface="Calibri"/>
              </a:rPr>
              <a:t>90-DAY PLAN</a:t>
            </a:r>
          </a:p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23303B"/>
                </a:solidFill>
                <a:latin typeface="Georgia"/>
              </a:rPr>
              <a:t>0 → 30 → 60 → 90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1298448"/>
            <a:ext cx="10424160" cy="25400"/>
          </a:xfrm>
          <a:prstGeom prst="rect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600200"/>
            <a:ext cx="3703320" cy="502920"/>
          </a:xfrm>
          <a:prstGeom prst="roundRect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Days 0-30 · Stabilise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240280"/>
            <a:ext cx="3703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3303B"/>
                </a:solidFill>
                <a:latin typeface="Calibri"/>
              </a:rPr>
              <a:t>•  Agency transition: access, history, search-term reports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3303B"/>
                </a:solidFill>
                <a:latin typeface="Calibri"/>
              </a:rPr>
              <a:t>•  Fix measurement (AdServices/SKAN/MMP)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3303B"/>
                </a:solidFill>
                <a:latin typeface="Calibri"/>
              </a:rPr>
              <a:t>•  Quick wins: cap brand, isolate Search Match, pause junk geos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3303B"/>
                </a:solidFill>
                <a:latin typeface="Calibri"/>
              </a:rPr>
              <a:t>•  Ship 1-2 low-risk fixes; stand up weekly reporting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00200"/>
            <a:ext cx="3703320" cy="502920"/>
          </a:xfrm>
          <a:prstGeom prst="roundRect">
            <a:avLst/>
          </a:prstGeom>
          <a:solidFill>
            <a:srgbClr val="2E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Days 30-60 · Rebuild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240280"/>
            <a:ext cx="3703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3303B"/>
                </a:solidFill>
                <a:latin typeface="Calibri"/>
              </a:rPr>
              <a:t>•  Live architecture + first tool-intent CPPs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3303B"/>
                </a:solidFill>
                <a:latin typeface="Calibri"/>
              </a:rPr>
              <a:t>•  AI-angle CPP + 'AI' badges test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3303B"/>
                </a:solidFill>
                <a:latin typeface="Calibri"/>
              </a:rPr>
              <a:t>•  PPO on default listing; paid-organic keyword sync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3303B"/>
                </a:solidFill>
                <a:latin typeface="Calibri"/>
              </a:rPr>
              <a:t>•  Kill Product-Pages competitor; expand generic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600200"/>
            <a:ext cx="3703320" cy="502920"/>
          </a:xfrm>
          <a:prstGeom prst="roundRect">
            <a:avLst/>
          </a:prstGeom>
          <a:solidFill>
            <a:srgbClr val="B5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Days 60-90 ·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2240280"/>
            <a:ext cx="3703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3303B"/>
                </a:solidFill>
                <a:latin typeface="Calibri"/>
              </a:rPr>
              <a:t>•  Scale into banked efficiency → ~$55K @ ≥125%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3303B"/>
                </a:solidFill>
                <a:latin typeface="Calibri"/>
              </a:rPr>
              <a:t>•  Validate CPP winners by intent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3303B"/>
                </a:solidFill>
                <a:latin typeface="Calibri"/>
              </a:rPr>
              <a:t>•  Q2 plan → $70K (budget, keywords, CPPs, T1 geos)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1264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1">
                <a:solidFill>
                  <a:srgbClr val="6E6A63"/>
                </a:solidFill>
                <a:latin typeface="Calibri"/>
              </a:rPr>
              <a:t>From the team: creative for tool + AI CPPs (screens, 'AI' badges, previews) · tools (ASO Mobile, Ahrefs, opt. SplitMetrics) · budget authority + ROAS sign-off · CMO calls on brand-defense risk tolerance, the AI-positioning bet, and geo expansion · product collab on paywall.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C8542F"/>
                </a:solidFill>
                <a:latin typeface="Calibri"/>
              </a:rPr>
              <a:t>RISKS &amp; ASSUMPTIONS</a:t>
            </a:r>
          </a:p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23303B"/>
                </a:solidFill>
                <a:latin typeface="Georgia"/>
              </a:rPr>
              <a:t>What this depends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1298448"/>
            <a:ext cx="10424160" cy="25400"/>
          </a:xfrm>
          <a:prstGeom prst="rect">
            <a:avLst/>
          </a:prstGeom>
          <a:solidFill>
            <a:srgbClr val="C85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160020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450" b="1" i="0">
                <a:solidFill>
                  <a:srgbClr val="23303B"/>
                </a:solidFill>
                <a:latin typeface="Calibri"/>
              </a:rPr>
              <a:t>-  #1 assumption: revenue modelled on first-year ARPPU (same basis as the ~100% anchor). Real D30 cash = ROAS × D30/Y1 recognition - pull the curve from RevenueCat.</a:t>
            </a:r>
          </a:p>
          <a:p>
            <a:pPr algn="l">
              <a:spcAft>
                <a:spcPts val="1300"/>
              </a:spcAft>
            </a:pPr>
            <a:r>
              <a:rPr sz="1450" b="1" i="0">
                <a:solidFill>
                  <a:srgbClr val="23303B"/>
                </a:solidFill>
                <a:latin typeface="Calibri"/>
              </a:rPr>
              <a:t>-  Brand cut: assumes organic backfills most paused brand installs. Risk: a competitor floods our brand term. Mitigate: keep a capped defensive bid + the pause test proves it.</a:t>
            </a:r>
          </a:p>
          <a:p>
            <a:pPr algn="l">
              <a:spcAft>
                <a:spcPts val="1300"/>
              </a:spcAft>
            </a:pPr>
            <a:r>
              <a:rPr sz="1450" b="1" i="0">
                <a:solidFill>
                  <a:srgbClr val="23303B"/>
                </a:solidFill>
                <a:latin typeface="Calibri"/>
              </a:rPr>
              <a:t>-  AI positioning is a bet: it may not convert better yet. Mitigate: test it as a contained CPP with its own kill criteria before scaling budget into it.</a:t>
            </a:r>
          </a:p>
          <a:p>
            <a:pPr algn="l">
              <a:spcAft>
                <a:spcPts val="1300"/>
              </a:spcAft>
            </a:pPr>
            <a:r>
              <a:rPr sz="1450" b="1" i="0">
                <a:solidFill>
                  <a:srgbClr val="23303B"/>
                </a:solidFill>
                <a:latin typeface="Calibri"/>
              </a:rPr>
              <a:t>-  Scaling: assumes tool-intent CPT stays roughly stable at 2× spend. Risk: auction inflation / limited US volume → CPI rises. Mitigate: widen tool terms, CR gains from CPPs/PPO, tested T1 geo expansion.</a:t>
            </a:r>
          </a:p>
          <a:p>
            <a:pPr algn="l">
              <a:spcAft>
                <a:spcPts val="1300"/>
              </a:spcAft>
            </a:pPr>
            <a:r>
              <a:rPr sz="1450" b="1" i="0">
                <a:solidFill>
                  <a:srgbClr val="23303B"/>
                </a:solidFill>
                <a:latin typeface="Calibri"/>
              </a:rPr>
              <a:t>-  Measurement: SKAN/ATT delay &amp; nulls. Mitigate: AdServices + documented reconciliation.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194560"/>
          </a:xfrm>
          <a:prstGeom prst="rect">
            <a:avLst/>
          </a:prstGeom>
          <a:solidFill>
            <a:srgbClr val="2E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5146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The thesis in one line</a:t>
            </a:r>
          </a:p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Stop overpaying to defend the brand; win the tool-intent searches with a page per tool - and the users who'd otherwise ask an AI - scaling to $70K at ≥125% by end of Q2.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7548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6E6A63"/>
                </a:solidFill>
                <a:latin typeface="Calibri"/>
              </a:rPr>
              <a:t>Files: this deck · ROAS model (xlsx) · experiment briefs + measurement plan (doc).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