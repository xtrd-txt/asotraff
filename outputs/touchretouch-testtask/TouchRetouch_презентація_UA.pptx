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256032" cy="27432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107899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 i="0">
                <a:solidFill>
                  <a:srgbClr val="C8542F"/>
                </a:solidFill>
                <a:latin typeface="Calibri"/>
              </a:rPr>
              <a:t>APPLE SEARCH ADS · ТЕСТОВЕ ЗАВДАННЯ</a:t>
            </a:r>
          </a:p>
          <a:p>
            <a:pPr algn="l">
              <a:spcAft>
                <a:spcPts val="200"/>
              </a:spcAft>
            </a:pPr>
            <a:r>
              <a:rPr sz="3000" b="1" i="0">
                <a:solidFill>
                  <a:srgbClr val="23303B"/>
                </a:solidFill>
                <a:latin typeface="Georgia"/>
              </a:rPr>
              <a:t>TouchRetouch: забираю канал in-house,</a:t>
            </a:r>
          </a:p>
          <a:p>
            <a:pPr algn="l">
              <a:spcAft>
                <a:spcPts val="1200"/>
              </a:spcAft>
            </a:pPr>
            <a:r>
              <a:rPr sz="3000" b="1" i="0">
                <a:solidFill>
                  <a:srgbClr val="23303B"/>
                </a:solidFill>
                <a:latin typeface="Georgia"/>
              </a:rPr>
              <a:t>лагоджу і готую до масштабування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6E6A63"/>
                </a:solidFill>
                <a:latin typeface="Calibri"/>
              </a:rPr>
              <a:t>Фоторедактор (iOS) · freemium: тижневий тріал → підписка · ринок US · план на 2 квартали до $70K/міс при ROAS ≥125%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864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E6A63"/>
                </a:solidFill>
                <a:latin typeface="Calibri"/>
              </a:rPr>
              <a:t>Коротко: спершу зрізаю зайве по бренду й гео, банкую запас по ROAS — і лише потім масштабую ефективний US generic та competitor у цей запас.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АУДИТ АКАУНТА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Що я побачив і що болить найбільше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E6A63"/>
                </a:solidFill>
                <a:latin typeface="Calibri"/>
              </a:rPr>
              <a:t>Проблеми відсортовані за впливом на дохід — зверху те, що коштує найбільше грошей.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920240"/>
          <a:ext cx="11430000" cy="4608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383280"/>
                <a:gridCol w="4206240"/>
                <a:gridCol w="3474720"/>
              </a:tblGrid>
              <a:tr h="65836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#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Проблема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Чому це гроші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Що роблю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Бренд = 58% витрат (~$20K) + канібалізація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Плачу за інстали, які органіка бере безкоштовно; макс. бід €25–35 при факті €1.2–1.9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Кап біда ~€2–3; pause-тест; перекидаю бюджет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Search Match (31%) у тих же generic, без негативів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SM конкурує з власними exact-ключами, крутить наосліп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Виношу в окремий Discovery; Core як негативи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T1_Generic: 40 сторфронтів під одним бідом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US конкурує з UZ/KG-сміттям (TTR 4–5%)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Ділю по гео/тирах; ізолюю US; ріжу сміття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Competitor лише на Product Pages (CPA €17)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x10 неефективно; немає conquesting у Search Results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Запускаю competitor у Search Results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Feature: одиничні інстали по €4–7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Не масштабується, переплата на копійках об'єму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Згортаю в generic ad group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Console vs MMP розходяться на 30%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Не можна довіряти ROAS — це фундамент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Реконсиляція (див. вимірювання)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РЕСТРУКТУРИЗАЦІЯ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Якою я роблю архітектуру акаунта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45920"/>
            <a:ext cx="2743200" cy="50292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Бренд (US)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62763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Exact · бід капнутий ~€2–3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Дешево захищаю, не переплачую; міряю інкремент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743200" cy="50292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Generic Core (US)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45059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Exact · ручні біди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Перевірені head/mid-ключі під CPA-таргет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291840"/>
            <a:ext cx="2743200" cy="50292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Generic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327355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Search Match + Broad, ІЗОЛЬОВАНО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Шукаю нове → харвест у Core; Core як негативи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14800"/>
            <a:ext cx="2743200" cy="50292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Competitor (US)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409651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Exact · Search Results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Conquesting зі своїм CPP (був лише PP, CPA €17)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937760"/>
            <a:ext cx="2743200" cy="502920"/>
          </a:xfrm>
          <a:prstGeom prst="roundRect">
            <a:avLst/>
          </a:prstGeom>
          <a:solidFill>
            <a:srgbClr val="6E6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491947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Ad group всередині Generic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Без окремого зоопарку дрібних термінів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989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23303B"/>
                </a:solidFill>
                <a:latin typeface="Calibri"/>
              </a:rPr>
              <a:t>Негативи: Core-ключі → негативи в Discovery/Search Match · бренд-терміни → негативи в Generic і Competitor. Плейсменти: Search Results — основний; Search/Today tab — тестами; Product Pages лише там, де окупається.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КЛЮЧІ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Процес + приклад пулу за інтентом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A63"/>
                </a:solidFill>
                <a:latin typeface="Calibri"/>
              </a:rPr>
              <a:t>Процес: сіди з продукту + автосаджест App Store + AppTweak/ASOMobile (обсяг/складність/інтент) + search-term звіти ASA + метадата конкурентів + харвест з Discovery. Ре-ресёрч щокварталу.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057400"/>
          <a:ext cx="1124712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/>
                <a:gridCol w="3017520"/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Бренд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Generic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Competitor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Georgia"/>
                        </a:rPr>
                        <a:t>Feature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touchretouch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photo editor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facetune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magic eraser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touchretouch app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object remover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snapseed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remove people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remove object from photo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picsart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background eraser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photo retouch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lightroom (exact)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unwanted object remover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unblur / photo enhancer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youcam perfect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303B"/>
                          </a:solidFill>
                          <a:latin typeface="Calibri"/>
                        </a:rPr>
                        <a:t>object eraser (exact)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44068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542F"/>
                </a:solidFill>
                <a:latin typeface="Calibri"/>
              </a:rPr>
              <a:t>Логіка match: exact для перевірених; Broad+Search Match — ізольовано в Discovery для харвесту. Бренди конкурентів: бідю в ASA, але НІКОЛИ не в метадаті (trademark / 2.3.7).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ASO ТА СИНК PAID↔ORGANIC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Захищаю і ростю органічний ранг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Метадата: топ generic-head → Subtitle; feature-терміни → Keyword field; Title = TouchRetouch + топ-категорійний термін.</a:t>
            </a:r>
          </a:p>
          <a:p>
            <a:pPr algn="l" lvl="1">
              <a:spcAft>
                <a:spcPts val="1200"/>
              </a:spcAft>
            </a:pPr>
            <a:r>
              <a:rPr sz="1300" b="0" i="0">
                <a:solidFill>
                  <a:srgbClr val="6E6A63"/>
                </a:solidFill>
                <a:latin typeface="Calibri"/>
              </a:rPr>
              <a:t>·  Бренди конкурентів — бідю лише в ASA, тримаю поза метадатою (trademark).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Halo: платна install velocity піднімає органічний ранг по тому ж ключу → безкоштовні інстали зверху.</a:t>
            </a:r>
          </a:p>
          <a:p>
            <a:pPr algn="l" lvl="1">
              <a:spcAft>
                <a:spcPts val="1200"/>
              </a:spcAft>
            </a:pPr>
            <a:r>
              <a:rPr sz="1300" b="0" i="0">
                <a:solidFill>
                  <a:srgbClr val="6E6A63"/>
                </a:solidFill>
                <a:latin typeface="Calibri"/>
              </a:rPr>
              <a:t>·  Канібалізація: бід по власному бренду частково платить за те, що органіка взяла б безкоштовно.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Міряю paid→organic: трекінг органічного рангу по ключу (AppTweak) до/після платного пушу.</a:t>
            </a:r>
          </a:p>
          <a:p>
            <a:pPr algn="l" lvl="1">
              <a:spcAft>
                <a:spcPts val="1200"/>
              </a:spcAft>
            </a:pPr>
            <a:r>
              <a:rPr sz="1300" b="0" i="0">
                <a:solidFill>
                  <a:srgbClr val="6E6A63"/>
                </a:solidFill>
                <a:latin typeface="Calibri"/>
              </a:rPr>
              <a:t>·  Інкрементальність: brand-pause тест + geo-holdout, щоб виділити реальний інкремент платки.</a:t>
            </a:r>
          </a:p>
          <a:p>
            <a:pPr algn="l">
              <a:spcAft>
                <a:spcPts val="12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Дефолтна сторінка — теж ASO: PPO A/B на скрінах/іконці для росту install rate; CPP доповнює її під інтент.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CUSTOM PRODUCT PAGES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3 концепти під теми ключів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3474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926080"/>
                <a:gridCol w="3840480"/>
                <a:gridCol w="2286000"/>
              </a:tblGrid>
              <a:tr h="868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CPP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Під які ключі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Що змінюється на сторінці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Метрика оцінки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Object Cleanup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remove object, magic eraser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Before/after видалення; one-tap erase у preview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tap→install CR + trial-start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AI Enhance / Retouch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photo enhancer, ai editor, retouch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Портрет-ретуш/енхенс; «AI в один тап»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CR + trial rate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Competitor Switch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facetune, snapseed, picsart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«Все що вони, але швидше»; знайомі UI-патерни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CR з competitor + trial→paid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E6A63"/>
                </a:solidFill>
                <a:latin typeface="Calibri"/>
              </a:rPr>
              <a:t>Оцінюю передусім за tap→install CR (на що CPP впливає) та trial-start; зрештою — CPA(trial)/ROAS по CPP. Кожен CPP пришпилений до свого ad group, щоб креатив збігався з інтентом пошуку.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БЮДЖЕТ І ROAS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Шлях $35K → $70K при ≥125%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813816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005840"/>
                <a:gridCol w="1097280"/>
                <a:gridCol w="1188720"/>
                <a:gridCol w="1188720"/>
                <a:gridCol w="914400"/>
                <a:gridCol w="731520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Фаза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Витрати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CPI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Інстали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Дохід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ROAS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Гейт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M0 Базовий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$0.666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52.6K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$35.0K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M1 Банк ефект.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$35K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$0.560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62.5K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$41.6K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119%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білд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M2 Гейт пройдено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$40K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$0.531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75.3K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$50.2K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125%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ТАК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M3 Скейл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$55K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$0.528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104K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$69.4K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126%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ТАК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Q2 Ціль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$70K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$0.525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133K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$88.8K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127%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ТАК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869680" y="16002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C8542F"/>
                </a:solidFill>
                <a:latin typeface="Georgia"/>
              </a:rPr>
              <a:t>Юніт-економіка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Дохід/інстал (рік) = 3% × $22.2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Беззбитк. CPI = $0.666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23303B"/>
                </a:solidFill>
                <a:latin typeface="Calibri"/>
              </a:rPr>
              <a:t>Цільовий CPI (125%) = $0.533</a:t>
            </a:r>
          </a:p>
          <a:p>
            <a:pPr algn="l">
              <a:spcAft>
                <a:spcPts val="400"/>
              </a:spcAft>
            </a:pPr>
            <a:r>
              <a:rPr sz="1200" b="0" i="1">
                <a:solidFill>
                  <a:srgbClr val="6E6A63"/>
                </a:solidFill>
                <a:latin typeface="Calibri"/>
              </a:rPr>
              <a:t>Спершу банкую ефективність (M1), потім масштабую в запас. Гейт беру на самому CPI — приріст воронки це апсайд.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Біддінг: старт від цільового CPA (CPT = CPA × CR); рухаю по downstream (trial/payer, не інстали); бренд — кап у факта.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C8542F"/>
                </a:solidFill>
                <a:latin typeface="Calibri"/>
              </a:rPr>
              <a:t>Чутливість: ланцюг ROAS мультиплікативний → рівна еластичність. Пріоритет за headroom × контроль: CPT-ефективність (найшвидше), Тріал→Оплата (найбільший запас, 20%), tap→install CR (CPP/PPO).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ВИМІРЮВАННЯ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Зводжу 30% розрив; source of 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0020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30% console&gt;MMP: AdServices рахує redownloads і view-through, інше вікно; MMP дедуплікує, губить ATT/SKAN-null інстали, потребує SDK first-open.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Реконсиляція: єдине вікно атрибуції; AdServices API = source of truth по ASA-інсталах (детерміновано, переживає ATT); документований міст console→MMP щотижня.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Source of truth — ASA console: витрати, TTR, CPT, тапи + AdServices інстали.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MMP (AppsFlyer): атрибутовані інстали + downstream по каналах.</a:t>
            </a:r>
          </a:p>
          <a:p>
            <a:pPr algn="l" lvl="1">
              <a:spcAft>
                <a:spcPts val="900"/>
              </a:spcAft>
            </a:pPr>
            <a:r>
              <a:rPr sz="1100" b="0" i="0">
                <a:solidFill>
                  <a:srgbClr val="6E6A63"/>
                </a:solidFill>
                <a:latin typeface="Calibri"/>
              </a:rPr>
              <a:t>·  RevenueCat / Amplitude: тріали, платники, дохід, LTV, крива D30/рік.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Під ATT: AdServices детермінує ASA-інстали; SKAN conversion values — downstream (не-ATT); предиктив/blended — по доходу.</a:t>
            </a:r>
          </a:p>
          <a:p>
            <a:pPr algn="l">
              <a:spcAft>
                <a:spcPts val="900"/>
              </a:spcAft>
            </a:pPr>
            <a:r>
              <a:rPr sz="1300" b="1" i="0">
                <a:solidFill>
                  <a:srgbClr val="23303B"/>
                </a:solidFill>
                <a:latin typeface="Calibri"/>
              </a:rPr>
              <a:t>—  Тижневі KPI: витрати, TTR, CR, CPT, CPI, інстали (console vs MMP Δ%), CPA(trial), CPA(payer), Тріал→Оплата%, ROAS (D7 як сигнал + D30 гейт), органічний ранг топ-ключів, частка органіки.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БЕКЛОГ ЕКСПЕРИМЕНТІВ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Пріоритет за $-анлоком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00200"/>
          <a:ext cx="11247120" cy="4352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743200"/>
                <a:gridCol w="44805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Тест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Цільовий KPI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Georgia"/>
                        </a:rPr>
                        <a:t>Success / Kill</a:t>
                      </a:r>
                    </a:p>
                  </a:txBody>
                  <a:tcPr marL="76200" marR="50800" marT="25400" marB="25400" anchor="ctr">
                    <a:solidFill>
                      <a:srgbClr val="C8542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1 · Кап бренд-біда + pause-інкремент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Бренд incremental installs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Органіка бекфілить ≥70% → ріжу назавжди / Kill: органіка −&gt;30%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2 · Ізоляція Search Match + негативи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Generic CPA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 −15% при тому ж об'ємі / Kill: об'єм −&gt;20%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3 · Competitor у Search Results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CPA(trial)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CPA ≤ таргет, інкремент+ / Kill: CPA &gt; generic ×1.5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4 · CPP «Object Cleanup» vs дефолт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tap→install CR + trial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+10% CR стат-знач / Kill: нема лифта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5 · PPO скрін-тест (дефолт)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Store install rate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+5% стат-знач / Kill: нема лифта</a:t>
                      </a:r>
                    </a:p>
                  </a:txBody>
                  <a:tcPr marL="76200" marR="50800" marT="25400" marB="25400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6 · Гео-сплит T1 (ізоляція US)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US CPI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3303B"/>
                          </a:solidFill>
                          <a:latin typeface="Calibri"/>
                        </a:rPr>
                        <a:t>US CPI ≤ таргет / Kill: —</a:t>
                      </a:r>
                    </a:p>
                  </a:txBody>
                  <a:tcPr marL="76200" marR="50800" marT="25400" marB="25400" anchor="ctr">
                    <a:solidFill>
                      <a:srgbClr val="F3ECE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ПЛАН НА 90 ДНІВ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0 → 30 → 60 → 90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600200"/>
            <a:ext cx="3703320" cy="502920"/>
          </a:xfrm>
          <a:prstGeom prst="round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Дні 0–30 · Стабілізація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Переходка від агентства: доступи, історія, звіти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Аудит + фікс вимірювання (AdServices/SKAN/MMP)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Quick wins: кап бренд-біда, ізоляція SM, пауза сміттєвих гео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1–2 low-risk фікси; ставлю репортинг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600200"/>
            <a:ext cx="3703320" cy="502920"/>
          </a:xfrm>
          <a:prstGeom prst="round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Дні 30–60 · Ребілд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Жива архітектура: Brand/Core/Discovery/Competitor-SR/Feature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Перші CPP + PPO тести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Синк paid–organic по ключах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Розширення generic + competitor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600200"/>
            <a:ext cx="3703320" cy="502920"/>
          </a:xfrm>
          <a:prstGeom prst="roundRect">
            <a:avLst/>
          </a:prstGeom>
          <a:solidFill>
            <a:srgbClr val="B57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Дні 60–90 · Скейл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2240280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Масштабую в запас → ~$55K при ≥125%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Валідую CPP-переможців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23303B"/>
                </a:solidFill>
                <a:latin typeface="Calibri"/>
              </a:rPr>
              <a:t>•  План Q2 → $70K (бюджет, ключі, CPP, гео)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0807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E6A63"/>
                </a:solidFill>
                <a:latin typeface="Calibri"/>
              </a:rPr>
              <a:t>Що треба від команди: креатив під 2–3 CPP · тули (AppTweak/ASOMobile, опц. SplitMetrics) · повноваження по бюджету + підпис ROAS-таргета · рішення CMO по риск-толерантності бренд-захисту та гео · колаборація з продуктом по пейволу (Тріал→Оплата).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84048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C8542F"/>
                </a:solidFill>
                <a:latin typeface="Calibri"/>
              </a:rPr>
              <a:t>РИЗИКИ ТА ПРИПУЩЕННЯ</a:t>
            </a:r>
          </a:p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3303B"/>
                </a:solidFill>
                <a:latin typeface="Georgia"/>
              </a:rPr>
              <a:t>На чому тримається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1280160" y="1325880"/>
            <a:ext cx="10424160" cy="25400"/>
          </a:xfrm>
          <a:prstGeom prst="rect">
            <a:avLst/>
          </a:prstGeom>
          <a:solidFill>
            <a:srgbClr val="C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Головне припущення: дохід на базі річного ARPPU (той самий базис, що й якір «~100%»). Реальний кеш на D30 = ROAS × коеф. визнання — взяти криву з RevenueCat.</a:t>
            </a:r>
          </a:p>
          <a:p>
            <a:pPr algn="l">
              <a:spcAft>
                <a:spcPts val="15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Інкремент бренду: припускаю, що органіка підхопить більшість паузнутих інсталів. Ризик — конкуренти бідять по бренду. Мітигація: капнутий захисний бід + моніторинг.</a:t>
            </a:r>
          </a:p>
          <a:p>
            <a:pPr algn="l">
              <a:spcAft>
                <a:spcPts val="15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Скейл: припускаю ~стабільний generic CPT при подвоєнні. Ризик — інфляція аукціону / ліміт US-об'єму → CPI росте → ROAS ламається. Мітигація: розширення ключів, приріст CR через CPP/PPO, гео-експансія.</a:t>
            </a:r>
          </a:p>
          <a:p>
            <a:pPr algn="l">
              <a:spcAft>
                <a:spcPts val="15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Вимірювання: SKAN/ATT шум і затримка. Мітигація: AdServices + документована реконсиляція.</a:t>
            </a:r>
          </a:p>
          <a:p>
            <a:pPr algn="l">
              <a:spcAft>
                <a:spcPts val="1500"/>
              </a:spcAft>
            </a:pPr>
            <a:r>
              <a:rPr sz="1500" b="1" i="0">
                <a:solidFill>
                  <a:srgbClr val="23303B"/>
                </a:solidFill>
                <a:latin typeface="Calibri"/>
              </a:rPr>
              <a:t>—  Зовнішнє: сезонність, бідінг конкурентів, ATT opt-in. Моніторю й переоцінюю щомісяця.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194560"/>
          </a:xfrm>
          <a:prstGeom prst="rect">
            <a:avLst/>
          </a:prstGeom>
          <a:solidFill>
            <a:srgbClr val="2E7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5146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Теза в одному реченні</a:t>
            </a:r>
          </a:p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Georgia"/>
              </a:rPr>
              <a:t>Зрізаю зайве по бренду й гео, банкую запас по ROAS — і масштабую ефективний US generic та competitor у цей запас, виходячи на $70K при ≥125% до кінця Q2.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754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6E6A63"/>
                </a:solidFill>
                <a:latin typeface="Calibri"/>
              </a:rPr>
              <a:t>Файли: ця презентація · ROAS-модель (xlsx, редагована) · брифи експериментів + план вимірювання (doc).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